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COVER
BILICLASS_SCHEMA: {"biliclass_template":true,"theme":"VISUAL","layout_id":"COVER","slide_number":1,"slots":["LESSON_TITLE_VI","LESSON_TITLE_EN","SUBJECT","GRADE","TEACHER"],"language_behavior":"mode_responsive"}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INTRO
BILICLASS_SCHEMA: {"biliclass_template":true,"theme":"VISUAL","layout_id":"INTRO","slide_number":2,"slots":["INTRO_TITLE_VI","INTRO_TITLE_EN","INTRO_TEXT_VI","INTRO_TEXT_EN"],"language_behavior":"mode_responsive"}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ROADMAP
BILICLASS_SCHEMA: {"biliclass_template":true,"theme":"VISUAL","layout_id":"ROADMAP","slide_number":3,"slots":["SECTION_1_VI","SECTION_1_EN","SECTION_2_VI","SECTION_2_EN","SECTION_3_VI","SECTION_3_EN"],"language_behavior":"mode_responsive"}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OBJECTIVES
BILICLASS_SCHEMA: {"biliclass_template":true,"theme":"VISUAL","layout_id":"OBJECTIVES","slide_number":4,"slots":["OBJECTIVES_TITLE_VI","OBJECTIVES_TITLE_EN","OBJECTIVE_1_VI","OBJECTIVE_1_EN","OBJECTIVE_2_VI","OBJECTIVE_2_EN","OBJECTIVE_3_VI","OBJECTIVE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SECTION
BILICLASS_SCHEMA: {"biliclass_template":true,"theme":"VISUAL","layout_id":"SECTION","slide_number":5,"slots":["SECTION_TITLE_VI","SECTION_TITLE_EN","SECTION_NUMBER"],"language_behavior":"mode_responsive"}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TITLE_ONLY
BILICLASS_SCHEMA: {"biliclass_template":true,"theme":"VISUAL","layout_id":"TITLE_ONLY","slide_number":6,"slots":["TITLE_VI","TITLE_EN"],"language_behavior":"mode_responsive"}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TWO_COLUMNS
BILICLASS_SCHEMA: {"biliclass_template":true,"theme":"VISUAL","layout_id":"TWO_COLUMNS","slide_number":7,"slots":["TITLE_VI","TITLE_EN","BODY_1_VI","BODY_1_EN","BODY_2_VI","BODY_2_EN"],"language_behavior":"two_columns"}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STACKED
BILICLASS_SCHEMA: {"biliclass_template":true,"theme":"VISUAL","layout_id":"STACKED","slide_number":8,"slots":["TITLE_VI","TITLE_EN","PAIR_1_VI","PAIR_1_EN","PAIR_2_VI","PAIR_2_EN"],"language_behavior":"sentence_pairs"}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KEYWORD
BILICLASS_SCHEMA: {"biliclass_template":true,"theme":"VISUAL","layout_id":"KEYWORD","slide_number":9,"slots":["TITLE_VI","TITLE_EN","KEYWORD_BODY_VI_EN"],"language_behavior":"keyword_integration"}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ENGLISH
BILICLASS_SCHEMA: {"biliclass_template":true,"theme":"VISUAL","layout_id":"ENGLISH","slide_number":10,"slots":["TITLE_EN","ENGLISH_BODY"],"language_behavior":"english_only"}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THEORY
BILICLASS_SCHEMA: {"biliclass_template":true,"theme":"VISUAL","layout_id":"THEORY","slide_number":11,"slots":["TITLE_VI","TITLE_EN","TEXT_VI","TEXT_EN"],"language_behavior":"mode_responsive"}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IMAGE_TEXT
BILICLASS_SCHEMA: {"biliclass_template":true,"theme":"VISUAL","layout_id":"IMAGE_TEXT","slide_number":12,"slots":["TITLE_VI","TITLE_EN","IMAGE_SOURCE","CAPTION_VI","CAPTION_EN","EXPLANATION_VI","EXPLANATION_EN"],"language_behavior":"mode_responsive"}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FORMULA
BILICLASS_SCHEMA: {"biliclass_template":true,"theme":"VISUAL","layout_id":"FORMULA","slide_number":13,"slots":["TITLE_VI","TITLE_EN","FORMULA_SOURCE","EXPLANATION_VI","EXPLANATION_EN"],"language_behavior":"mode_responsive"}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PROCESS
BILICLASS_SCHEMA: {"biliclass_template":true,"theme":"VISUAL","layout_id":"PROCESS","slide_number":14,"slots":["TITLE_VI","TITLE_EN","STEP_1_VI","STEP_1_EN","STEP_2_VI","STEP_2_EN","STEP_3_VI","STEP_3_EN"],"language_behavior":"mode_responsive"}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COMPARISON
BILICLASS_SCHEMA: {"biliclass_template":true,"theme":"VISUAL","layout_id":"COMPARISON","slide_number":15,"slots":["TITLE_VI","TITLE_EN","ITEM_A_VI","ITEM_A_EN","ITEM_B_VI","ITEM_B_EN"],"language_behavior":"mode_responsive"}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TABLE
BILICLASS_SCHEMA: {"biliclass_template":true,"theme":"VISUAL","layout_id":"TABLE","slide_number":16,"slots":["TITLE_VI","TITLE_EN","TABLE_SOURCE"],"language_behavior":"mode_responsive"}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GROUP_WORK
BILICLASS_SCHEMA: {"biliclass_template":true,"theme":"VISUAL","layout_id":"GROUP_WORK","slide_number":17,"slots":["TITLE_VI","TITLE_EN","TASK_VI","TASK_EN","TIME"],"language_behavior":"mode_responsive"}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EXERCISE
BILICLASS_SCHEMA: {"biliclass_template":true,"theme":"VISUAL","layout_id":"EXERCISE","slide_number":18,"slots":["TITLE_VI","TITLE_EN","QUESTION_VI","QUESTION_EN","SOLUTION_VI","SOLUTION_EN"],"language_behavior":"mode_responsive"}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QUIZ
BILICLASS_SCHEMA: {"biliclass_template":true,"theme":"VISUAL","layout_id":"QUIZ","slide_number":19,"slots":["TITLE_VI","TITLE_EN","QUESTION_VI","QUESTION_EN","OPTION_A_VI","OPTION_A_EN","OPTION_B_VI","OPTION_B_EN","OPTION_C_VI","OPTION_C_EN","OPTION_D_VI","OPTION_D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QUIZ_REVEAL
BILICLASS_SCHEMA: {"biliclass_template":true,"theme":"VISUAL","layout_id":"QUIZ_REVEAL","slide_number":20,"slots":["TITLE_VI","TITLE_EN","CORRECT_ANSWER","EXPLANATION_VI","EXPLANATION_EN"],"language_behavior":"mode_responsive"}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SUMMARY
BILICLASS_SCHEMA: {"biliclass_template":true,"theme":"VISUAL","layout_id":"SUMMARY","slide_number":21,"slots":["TITLE_VI","TITLE_EN","SUMMARY_1_VI","SUMMARY_1_EN","SUMMARY_2_VI","SUMMARY_2_EN","SUMMARY_3_VI","SUMMARY_3_EN"],"language_behavior":"mode_responsive"}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HOMEWORK
BILICLASS_SCHEMA: {"biliclass_template":true,"theme":"VISUAL","layout_id":"HOMEWORK","slide_number":22,"slots":["TITLE_VI","TITLE_EN","HOMEWORK_VI","HOMEWORK_EN"],"language_behavior":"mode_responsive"}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THANK_YOU
BILICLASS_SCHEMA: {"biliclass_template":true,"theme":"VISUAL","layout_id":"THANK_YOU","slide_number":23,"slots":["THANKS_VI","THANKS_EN","FOOTER"],"language_behavior":"mode_responsive"}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6456" y="54864"/>
            <a:ext cx="1618488" cy="1618488"/>
          </a:xfrm>
          <a:prstGeom prst="ellipse">
            <a:avLst/>
          </a:prstGeom>
          <a:solidFill>
            <a:srgbClr val="A7E6DC"/>
          </a:solidFill>
          <a:ln w="6350">
            <a:solidFill>
              <a:srgbClr val="A7E6D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5358384"/>
            <a:ext cx="1426464" cy="1426464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704088"/>
            <a:ext cx="822960" cy="73152"/>
          </a:xfrm>
          <a:prstGeom prst="roundRect">
            <a:avLst>
              <a:gd name="adj" fmla="val 225000"/>
            </a:avLst>
          </a:prstGeom>
          <a:solidFill>
            <a:srgbClr val="008F8B"/>
          </a:solidFill>
          <a:ln w="12700">
            <a:solidFill>
              <a:srgbClr val="008F8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9418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 /  VISUAL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4944" y="1847088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{{LESSON_TITLE_VI}}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04088" y="287121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{{LESSON_TITLE_EN}}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704088" y="3703320"/>
            <a:ext cx="7754112" cy="0"/>
          </a:xfrm>
          <a:prstGeom prst="line">
            <a:avLst/>
          </a:prstGeom>
          <a:noFill/>
          <a:ln w="15875">
            <a:solidFill>
              <a:srgbClr val="CDE6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09651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{{SUBJECT}}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77056" y="409651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{{GRADE}}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3232" y="4700016"/>
            <a:ext cx="5779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{{TEACHER}}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723376" y="1243584"/>
            <a:ext cx="2752344" cy="3438144"/>
          </a:xfrm>
          <a:prstGeom prst="roundRect">
            <a:avLst>
              <a:gd name="adj" fmla="val 598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06840" y="1673352"/>
            <a:ext cx="2148840" cy="365760"/>
          </a:xfrm>
          <a:prstGeom prst="roundRect">
            <a:avLst>
              <a:gd name="adj" fmla="val 45000"/>
            </a:avLst>
          </a:prstGeom>
          <a:solidFill>
            <a:srgbClr val="008F8B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06840" y="2258568"/>
            <a:ext cx="2148840" cy="365760"/>
          </a:xfrm>
          <a:prstGeom prst="roundRect">
            <a:avLst>
              <a:gd name="adj" fmla="val 45000"/>
            </a:avLst>
          </a:prstGeom>
          <a:solidFill>
            <a:srgbClr val="A7E6DC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06840" y="2843784"/>
            <a:ext cx="2148840" cy="3657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06840" y="3429000"/>
            <a:ext cx="2148840" cy="365760"/>
          </a:xfrm>
          <a:prstGeom prst="roundRect">
            <a:avLst>
              <a:gd name="adj" fmla="val 45000"/>
            </a:avLst>
          </a:prstGeom>
          <a:solidFill>
            <a:srgbClr val="A7E6DC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35440" y="4965192"/>
            <a:ext cx="1929384" cy="0"/>
          </a:xfrm>
          <a:prstGeom prst="line">
            <a:avLst/>
          </a:prstGeom>
          <a:noFill/>
          <a:ln w="38100">
            <a:solidFill>
              <a:srgbClr val="008F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623620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UNIVERSAL DESIGN  •  16:9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58368" y="1307592"/>
            <a:ext cx="7360920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554480"/>
            <a:ext cx="2148840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4984" y="1581912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 THIỆU / INTRO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41832" y="2048256"/>
            <a:ext cx="6656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{{INTRO_TEXT_VI}}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932688" y="3593592"/>
            <a:ext cx="6647688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3904488"/>
            <a:ext cx="66476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{{INTRO_TEXT_EN}}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57032" y="1316736"/>
            <a:ext cx="3246120" cy="443484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81744" y="2084832"/>
            <a:ext cx="1005840" cy="1005840"/>
          </a:xfrm>
          <a:prstGeom prst="ellipse">
            <a:avLst/>
          </a:prstGeom>
          <a:solidFill>
            <a:srgbClr val="E8F8F5"/>
          </a:solidFill>
          <a:ln w="635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56064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73252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586216" y="418795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TOGETHER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04088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1837944"/>
            <a:ext cx="484632" cy="484632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9848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41832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{{SECTION_1_VI}}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41832" y="3675888"/>
            <a:ext cx="3063240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{{SECTION_1_EN}}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562856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9744" y="1837944"/>
            <a:ext cx="484632" cy="484632"/>
          </a:xfrm>
          <a:prstGeom prst="ellipse">
            <a:avLst/>
          </a:prstGeom>
          <a:solidFill>
            <a:srgbClr val="28B2B8"/>
          </a:solidFill>
          <a:ln w="6350">
            <a:solidFill>
              <a:srgbClr val="28B2B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28616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00600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{{SECTION_2_VI}}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4800600" y="3675888"/>
            <a:ext cx="3063240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{{SECTION_2_EN}}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421624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68512" y="1837944"/>
            <a:ext cx="484632" cy="484632"/>
          </a:xfrm>
          <a:prstGeom prst="ellipse">
            <a:avLst/>
          </a:prstGeom>
          <a:solidFill>
            <a:srgbClr val="A7E6DC"/>
          </a:solidFill>
          <a:ln w="6350">
            <a:solidFill>
              <a:srgbClr val="A7E6DC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87384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659368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{{SECTION_3_VI}}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8659368" y="3675888"/>
            <a:ext cx="3063240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59368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{{SECTION_3_EN}}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{{OBJECTIVES_TITLE_VI}}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{{OBJECTIVES_TITLE_EN}}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" y="1307592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1426464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6404" y="1609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609344" y="157276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{{OBJECTIVE_1_VI}}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9944" y="1563624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{{OBJECTIVE_1_EN}}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181344" y="1508760"/>
            <a:ext cx="0" cy="987552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2376" y="2971800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" y="3090672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6404" y="3273552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609344" y="323697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{{OBJECTIVE_2_VI}}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9944" y="3227832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{{OBJECTIVE_2_EN}}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181344" y="3172968"/>
            <a:ext cx="0" cy="987552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2376" y="4636008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4672" y="4754880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6404" y="4937760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609344" y="49011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{{OBJECTIVE_3_VI}}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09944" y="4892040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{{OBJECTIVE_3_EN}}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181344" y="4837176"/>
            <a:ext cx="0" cy="987552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6456" y="54864"/>
            <a:ext cx="1618488" cy="1618488"/>
          </a:xfrm>
          <a:prstGeom prst="ellipse">
            <a:avLst/>
          </a:prstGeom>
          <a:solidFill>
            <a:srgbClr val="A7E6DC"/>
          </a:solidFill>
          <a:ln w="6350">
            <a:solidFill>
              <a:srgbClr val="A7E6D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5358384"/>
            <a:ext cx="1426464" cy="1426464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8952" y="1197864"/>
            <a:ext cx="2194560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" y="1225296"/>
            <a:ext cx="1975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/ CHAPTER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22376" y="182880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{{SECTION_NUMBER}}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49808" y="2496312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{{SECTION_TITLE_VI}}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68096" y="3483864"/>
            <a:ext cx="9509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{{SECTION_TITLE_EN}}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68096" y="4745736"/>
            <a:ext cx="7589520" cy="0"/>
          </a:xfrm>
          <a:prstGeom prst="line">
            <a:avLst/>
          </a:prstGeom>
          <a:noFill/>
          <a:ln w="38100">
            <a:solidFill>
              <a:srgbClr val="008F8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6456" y="54864"/>
            <a:ext cx="1618488" cy="1618488"/>
          </a:xfrm>
          <a:prstGeom prst="ellipse">
            <a:avLst/>
          </a:prstGeom>
          <a:solidFill>
            <a:srgbClr val="A7E6DC"/>
          </a:solidFill>
          <a:ln w="6350">
            <a:solidFill>
              <a:srgbClr val="A7E6D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5358384"/>
            <a:ext cx="1426464" cy="1426464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6384" y="786384"/>
            <a:ext cx="10625328" cy="525780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1143000"/>
            <a:ext cx="2450592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1170432"/>
            <a:ext cx="2231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SECTION / CHỦ ĐỀ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80160" y="2176272"/>
            <a:ext cx="9555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1280160" y="3127248"/>
            <a:ext cx="9555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2900" dirty="0"/>
          </a:p>
        </p:txBody>
      </p:sp>
      <p:sp>
        <p:nvSpPr>
          <p:cNvPr id="10" name="Shape 7"/>
          <p:cNvSpPr/>
          <p:nvPr/>
        </p:nvSpPr>
        <p:spPr>
          <a:xfrm>
            <a:off x="5102352" y="4233672"/>
            <a:ext cx="2011680" cy="0"/>
          </a:xfrm>
          <a:prstGeom prst="line">
            <a:avLst/>
          </a:prstGeom>
          <a:noFill/>
          <a:ln w="31750">
            <a:solidFill>
              <a:srgbClr val="008F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94944" y="1307592"/>
            <a:ext cx="5285232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90488" y="1307592"/>
            <a:ext cx="5294376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" y="1554480"/>
            <a:ext cx="1764792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1581912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VIỆT NAM / VI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55664" y="1554480"/>
            <a:ext cx="1783080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74536" y="1581912"/>
            <a:ext cx="1563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/ EN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87552" y="2011680"/>
            <a:ext cx="47274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{{BODY_1_VI}}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6473952" y="2011680"/>
            <a:ext cx="4672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{{BODY_1_EN}}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87552" y="3493008"/>
            <a:ext cx="4690872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73952" y="3493008"/>
            <a:ext cx="4690872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3858768"/>
            <a:ext cx="47000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{{BODY_2_VI}}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73952" y="3858768"/>
            <a:ext cx="47000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{{BODY_2_EN}}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0664" y="1316736"/>
            <a:ext cx="10716768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1517904"/>
            <a:ext cx="1901952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4712" y="1545336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CẶP 1 / PAIR 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33272" y="18745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{{PAIR_1_VI}}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33272" y="2542032"/>
            <a:ext cx="9976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{{PAIR_1_EN}}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40664" y="3584448"/>
            <a:ext cx="10716768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3785616"/>
            <a:ext cx="1901952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24712" y="3813048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CẶP 2 / PAIR 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33272" y="4142232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{{PAIR_2_VI}}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033272" y="4809744"/>
            <a:ext cx="9976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{{PAIR_2_EN}}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" y="1316736"/>
            <a:ext cx="10716768" cy="4507992"/>
          </a:xfrm>
          <a:prstGeom prst="roundRect">
            <a:avLst>
              <a:gd name="adj" fmla="val 3651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4984" y="1618488"/>
            <a:ext cx="2468880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856" y="1645920"/>
            <a:ext cx="2249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KHÓA / KEY TERMS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60704" y="2368296"/>
            <a:ext cx="99578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{{KEYWORD_BODY_VI_EN}}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1042416" y="5065776"/>
            <a:ext cx="9957816" cy="402336"/>
          </a:xfrm>
          <a:prstGeom prst="roundRect">
            <a:avLst>
              <a:gd name="adj" fmla="val 4090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0160" y="5184648"/>
            <a:ext cx="9482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 cấu trúc: thuật ngữ tiếng Việt (English term) — chỉ là hướng dẫn, không phải nội dung bài học.</a:t>
            </a:r>
            <a:endParaRPr lang="en-US" sz="11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420624"/>
            <a:ext cx="10835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3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2730" dirty="0"/>
          </a:p>
        </p:txBody>
      </p:sp>
      <p:sp>
        <p:nvSpPr>
          <p:cNvPr id="10" name="Shape 7"/>
          <p:cNvSpPr/>
          <p:nvPr/>
        </p:nvSpPr>
        <p:spPr>
          <a:xfrm>
            <a:off x="740664" y="1389888"/>
            <a:ext cx="10716768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3272" y="1664208"/>
            <a:ext cx="1847088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169164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ONLY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15568" y="2249424"/>
            <a:ext cx="9884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{{ENGLISH_BODY}}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" y="1307592"/>
            <a:ext cx="1074420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691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TIẾNG VIỆT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1033272" y="3712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1060704" y="2121408"/>
            <a:ext cx="9820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{{TEXT_VI}}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1042416" y="3355848"/>
            <a:ext cx="9848088" cy="0"/>
          </a:xfrm>
          <a:prstGeom prst="line">
            <a:avLst/>
          </a:prstGeom>
          <a:noFill/>
          <a:ln w="19050">
            <a:solidFill>
              <a:srgbClr val="CDE6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4133088"/>
            <a:ext cx="9820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{{TEXT_EN}}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" y="1316736"/>
            <a:ext cx="6099048" cy="4489704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13448" y="1316736"/>
            <a:ext cx="4443984" cy="44897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4984" y="1682496"/>
            <a:ext cx="5495544" cy="3035808"/>
          </a:xfrm>
          <a:prstGeom prst="roundRect">
            <a:avLst>
              <a:gd name="adj" fmla="val 5422"/>
            </a:avLst>
          </a:prstGeom>
          <a:solidFill>
            <a:srgbClr val="E8F8F5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72968" y="2487168"/>
            <a:ext cx="1060704" cy="1060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7E6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02736" y="27432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664208" y="2852928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{{IMAGE_SOURCE}}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033272" y="4910328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{{CAPTION_VI}}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33272" y="5312664"/>
            <a:ext cx="5358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{{CAPTION_EN}}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87768" y="1700784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/ EXPLANATION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7306056" y="2157984"/>
            <a:ext cx="3694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7296912" y="3547872"/>
            <a:ext cx="3822192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06056" y="3831336"/>
            <a:ext cx="37124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" y="1344168"/>
            <a:ext cx="10716768" cy="1911096"/>
          </a:xfrm>
          <a:prstGeom prst="roundRect">
            <a:avLst>
              <a:gd name="adj" fmla="val 8612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3272" y="1581912"/>
            <a:ext cx="3090672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1609344"/>
            <a:ext cx="2871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THỨC GỐC / ORIGINAL FORMULA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69848" y="2066544"/>
            <a:ext cx="98938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{{FORMULA_SOURCE}}</a:t>
            </a:r>
            <a:endParaRPr lang="en-US" sz="3100" dirty="0"/>
          </a:p>
        </p:txBody>
      </p:sp>
      <p:sp>
        <p:nvSpPr>
          <p:cNvPr id="15" name="Shape 12"/>
          <p:cNvSpPr/>
          <p:nvPr/>
        </p:nvSpPr>
        <p:spPr>
          <a:xfrm>
            <a:off x="722376" y="3483864"/>
            <a:ext cx="5221224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0488" y="3483864"/>
            <a:ext cx="5248656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6696" y="3758184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TIẾNG VIỆT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6473952" y="3758184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EXPLANATION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1024128" y="4306824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10528" y="4306824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13232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544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008F8B"/>
          </a:solidFill>
          <a:ln w="12700">
            <a:solidFill>
              <a:srgbClr val="008F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41832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{{STEP_1_VI}}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41832" y="3538728"/>
            <a:ext cx="3081528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{{STEP_1_EN}}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42232" y="34198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4535424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45736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28B2B8"/>
          </a:solidFill>
          <a:ln w="12700">
            <a:solidFill>
              <a:srgbClr val="28B2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64024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{{STEP_2_VI}}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4764024" y="3538728"/>
            <a:ext cx="3081528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64024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{{STEP_2_EN}}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964424" y="34198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2"/>
          <p:cNvSpPr/>
          <p:nvPr/>
        </p:nvSpPr>
        <p:spPr>
          <a:xfrm>
            <a:off x="8357616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67928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A7E6DC"/>
          </a:solidFill>
          <a:ln w="12700">
            <a:solidFill>
              <a:srgbClr val="A7E6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05088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586216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{{STEP_3_VI}}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8586216" y="3538728"/>
            <a:ext cx="3081528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86216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{{STEP_3_EN}}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04088" y="1444752"/>
            <a:ext cx="5257800" cy="436168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088" y="1444752"/>
            <a:ext cx="5257800" cy="118872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4984" y="1865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FIRST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1024128" y="2578608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{{ITEM_A_VI}}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1014984" y="3529584"/>
            <a:ext cx="4599432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3922776"/>
            <a:ext cx="45628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{{ITEM_A_EN}}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27064" y="1444752"/>
            <a:ext cx="5257800" cy="436168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27064" y="1444752"/>
            <a:ext cx="5257800" cy="118872"/>
          </a:xfrm>
          <a:prstGeom prst="rect">
            <a:avLst/>
          </a:prstGeom>
          <a:solidFill>
            <a:srgbClr val="28B2B8"/>
          </a:solidFill>
          <a:ln w="6350">
            <a:solidFill>
              <a:srgbClr val="28B2B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1865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/ SECOND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6547104" y="2578608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{{ITEM_B_VI}}</a:t>
            </a:r>
            <a:endParaRPr lang="en-US" sz="2300" dirty="0"/>
          </a:p>
        </p:txBody>
      </p:sp>
      <p:sp>
        <p:nvSpPr>
          <p:cNvPr id="21" name="Shape 18"/>
          <p:cNvSpPr/>
          <p:nvPr/>
        </p:nvSpPr>
        <p:spPr>
          <a:xfrm>
            <a:off x="6537960" y="3529584"/>
            <a:ext cx="4599432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47104" y="3922776"/>
            <a:ext cx="45628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{{ITEM_B_EN}}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04088" y="1380744"/>
            <a:ext cx="10780776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600200"/>
            <a:ext cx="2788920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1627632"/>
            <a:ext cx="2569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BẢNG DỮ LIỆU / DATA TABLE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69264" y="2148840"/>
            <a:ext cx="10168128" cy="493776"/>
          </a:xfrm>
          <a:prstGeom prst="roundRect">
            <a:avLst>
              <a:gd name="adj" fmla="val 33333"/>
            </a:avLst>
          </a:prstGeom>
          <a:solidFill>
            <a:srgbClr val="E8F8F5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9264" y="2642616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9FCFC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" y="3300984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" y="3959352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9FCFC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" y="4617720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11296" y="2148840"/>
            <a:ext cx="0" cy="3127248"/>
          </a:xfrm>
          <a:prstGeom prst="line">
            <a:avLst/>
          </a:prstGeom>
          <a:noFill/>
          <a:ln w="10795">
            <a:solidFill>
              <a:srgbClr val="CDE6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53328" y="2148840"/>
            <a:ext cx="0" cy="3127248"/>
          </a:xfrm>
          <a:prstGeom prst="line">
            <a:avLst/>
          </a:prstGeom>
          <a:noFill/>
          <a:ln w="10795">
            <a:solidFill>
              <a:srgbClr val="CDE6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95360" y="2148840"/>
            <a:ext cx="0" cy="3127248"/>
          </a:xfrm>
          <a:prstGeom prst="line">
            <a:avLst/>
          </a:prstGeom>
          <a:noFill/>
          <a:ln w="10795">
            <a:solidFill>
              <a:srgbClr val="CDE6E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993392" y="3090672"/>
            <a:ext cx="81747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{{TABLE_SOURCE}}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1344168"/>
            <a:ext cx="7516368" cy="4453128"/>
          </a:xfrm>
          <a:prstGeom prst="roundRect">
            <a:avLst>
              <a:gd name="adj" fmla="val 3696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85632" y="1344168"/>
            <a:ext cx="2999232" cy="4453128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4128" y="1691640"/>
            <a:ext cx="3218688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1719072"/>
            <a:ext cx="2999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THẢO LUẬN / GROUP ACTIVITY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69848" y="2295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NHIỆM VỤ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1069848" y="2606040"/>
            <a:ext cx="6757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{{TASK_VI}}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078992" y="3776472"/>
            <a:ext cx="6693408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/ ENGLISH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1069848" y="4425696"/>
            <a:ext cx="66842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{{TASK_EN}}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473184" y="2221992"/>
            <a:ext cx="1005840" cy="1005840"/>
          </a:xfrm>
          <a:prstGeom prst="ellipse">
            <a:avLst/>
          </a:prstGeom>
          <a:solidFill>
            <a:srgbClr val="E8F8F5"/>
          </a:solidFill>
          <a:ln w="635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83496" y="2432304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⏱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8805672" y="3767328"/>
            <a:ext cx="2368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{{TIME}}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9098280" y="4462272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BOX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" y="1335024"/>
            <a:ext cx="10753344" cy="19751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6696" y="1600200"/>
            <a:ext cx="2304288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1627632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TẬP / EXERCISE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1560" y="1947672"/>
            <a:ext cx="4764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{{QUESTION_VI}}</a:t>
            </a:r>
            <a:endParaRPr lang="en-US" sz="1980" dirty="0"/>
          </a:p>
        </p:txBody>
      </p:sp>
      <p:sp>
        <p:nvSpPr>
          <p:cNvPr id="15" name="Text 12"/>
          <p:cNvSpPr/>
          <p:nvPr/>
        </p:nvSpPr>
        <p:spPr>
          <a:xfrm>
            <a:off x="6473952" y="1947672"/>
            <a:ext cx="4608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{{QUESTION_EN}}</a:t>
            </a:r>
            <a:endParaRPr lang="en-US" sz="1820" dirty="0"/>
          </a:p>
        </p:txBody>
      </p:sp>
      <p:sp>
        <p:nvSpPr>
          <p:cNvPr id="16" name="Shape 13"/>
          <p:cNvSpPr/>
          <p:nvPr/>
        </p:nvSpPr>
        <p:spPr>
          <a:xfrm>
            <a:off x="6126480" y="1947672"/>
            <a:ext cx="0" cy="969264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2376" y="3538728"/>
            <a:ext cx="10753344" cy="227685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96696" y="3785616"/>
            <a:ext cx="2596896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38130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LỜI GIẢI / SOLUTION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60704" y="4215384"/>
            <a:ext cx="46817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3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{{SOLUTION_VI}}</a:t>
            </a:r>
            <a:endParaRPr lang="en-US" sz="1930" dirty="0"/>
          </a:p>
        </p:txBody>
      </p:sp>
      <p:sp>
        <p:nvSpPr>
          <p:cNvPr id="21" name="Text 18"/>
          <p:cNvSpPr/>
          <p:nvPr/>
        </p:nvSpPr>
        <p:spPr>
          <a:xfrm>
            <a:off x="6492240" y="4215384"/>
            <a:ext cx="4553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8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{{SOLUTION_EN}}</a:t>
            </a:r>
            <a:endParaRPr lang="en-US" sz="1780" dirty="0"/>
          </a:p>
        </p:txBody>
      </p:sp>
      <p:sp>
        <p:nvSpPr>
          <p:cNvPr id="22" name="Shape 19"/>
          <p:cNvSpPr/>
          <p:nvPr/>
        </p:nvSpPr>
        <p:spPr>
          <a:xfrm>
            <a:off x="6126480" y="4242816"/>
            <a:ext cx="0" cy="1069848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31520" y="1316736"/>
            <a:ext cx="10725912" cy="1252728"/>
          </a:xfrm>
          <a:prstGeom prst="roundRect">
            <a:avLst>
              <a:gd name="adj" fmla="val 13139"/>
            </a:avLst>
          </a:prstGeom>
          <a:solidFill>
            <a:srgbClr val="E8F8F5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1572768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{{QUESTION_VI}}</a:t>
            </a:r>
            <a:endParaRPr lang="en-US" sz="1980" dirty="0"/>
          </a:p>
        </p:txBody>
      </p:sp>
      <p:sp>
        <p:nvSpPr>
          <p:cNvPr id="13" name="Text 10"/>
          <p:cNvSpPr/>
          <p:nvPr/>
        </p:nvSpPr>
        <p:spPr>
          <a:xfrm>
            <a:off x="6464808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{{QUESTION_EN}}</a:t>
            </a:r>
            <a:endParaRPr lang="en-US" sz="1870" dirty="0"/>
          </a:p>
        </p:txBody>
      </p:sp>
      <p:sp>
        <p:nvSpPr>
          <p:cNvPr id="14" name="Shape 11"/>
          <p:cNvSpPr/>
          <p:nvPr/>
        </p:nvSpPr>
        <p:spPr>
          <a:xfrm>
            <a:off x="6172200" y="1554480"/>
            <a:ext cx="0" cy="804672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2807208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3008376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008F8B"/>
          </a:solidFill>
          <a:ln w="12700">
            <a:solidFill>
              <a:srgbClr val="008F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8700" y="3081528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53896" y="2990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{{OPTION_A_VI}}</a:t>
            </a:r>
            <a:endParaRPr lang="en-US" sz="1680" dirty="0"/>
          </a:p>
        </p:txBody>
      </p:sp>
      <p:sp>
        <p:nvSpPr>
          <p:cNvPr id="19" name="Text 16"/>
          <p:cNvSpPr/>
          <p:nvPr/>
        </p:nvSpPr>
        <p:spPr>
          <a:xfrm>
            <a:off x="1453896" y="337413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{{OPTION_A_EN}}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49808" y="4078224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6112" y="4279392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28B2B8"/>
          </a:solidFill>
          <a:ln w="12700">
            <a:solidFill>
              <a:srgbClr val="28B2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8700" y="435254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53896" y="42611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{{OPTION_B_VI}}</a:t>
            </a:r>
            <a:endParaRPr lang="en-US" sz="1680" dirty="0"/>
          </a:p>
        </p:txBody>
      </p:sp>
      <p:sp>
        <p:nvSpPr>
          <p:cNvPr id="24" name="Text 21"/>
          <p:cNvSpPr/>
          <p:nvPr/>
        </p:nvSpPr>
        <p:spPr>
          <a:xfrm>
            <a:off x="1453896" y="464515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{{OPTION_B_EN}}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263640" y="2807208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9944" y="3008376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A7E6DC"/>
          </a:solidFill>
          <a:ln w="12700">
            <a:solidFill>
              <a:srgbClr val="A7E6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42532" y="3081528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67728" y="2990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{{OPTION_C_VI}}</a:t>
            </a:r>
            <a:endParaRPr lang="en-US" sz="1680" dirty="0"/>
          </a:p>
        </p:txBody>
      </p:sp>
      <p:sp>
        <p:nvSpPr>
          <p:cNvPr id="29" name="Text 26"/>
          <p:cNvSpPr/>
          <p:nvPr/>
        </p:nvSpPr>
        <p:spPr>
          <a:xfrm>
            <a:off x="6967728" y="337413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{{OPTION_C_EN}}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6263640" y="4078224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9944" y="4279392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A7E6DC"/>
          </a:solidFill>
          <a:ln w="12700">
            <a:solidFill>
              <a:srgbClr val="A7E6D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42532" y="435254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67728" y="42611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{{OPTION_D_VI}}</a:t>
            </a:r>
            <a:endParaRPr lang="en-US" sz="1680" dirty="0"/>
          </a:p>
        </p:txBody>
      </p:sp>
      <p:sp>
        <p:nvSpPr>
          <p:cNvPr id="34" name="Text 31"/>
          <p:cNvSpPr/>
          <p:nvPr/>
        </p:nvSpPr>
        <p:spPr>
          <a:xfrm>
            <a:off x="6967728" y="464515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{{OPTION_D_EN}}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822960" y="5943600"/>
            <a:ext cx="10634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IS NOT SHOWN ON THIS SLIDE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" y="1389888"/>
            <a:ext cx="10698480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/ CORRECT ANSWER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1097280" y="2148840"/>
            <a:ext cx="2176272" cy="896112"/>
          </a:xfrm>
          <a:prstGeom prst="roundRect">
            <a:avLst>
              <a:gd name="adj" fmla="val 18367"/>
            </a:avLst>
          </a:prstGeom>
          <a:solidFill>
            <a:srgbClr val="E8F8F5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23317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{{CORRECT_ANSWER}}</a:t>
            </a:r>
            <a:endParaRPr lang="en-US" sz="3100" dirty="0"/>
          </a:p>
        </p:txBody>
      </p:sp>
      <p:sp>
        <p:nvSpPr>
          <p:cNvPr id="15" name="Shape 12"/>
          <p:cNvSpPr/>
          <p:nvPr/>
        </p:nvSpPr>
        <p:spPr>
          <a:xfrm>
            <a:off x="1069848" y="3355848"/>
            <a:ext cx="9985248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/ EXPLANATION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1097280" y="3986784"/>
            <a:ext cx="4718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464808" y="398678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6126480" y="3913632"/>
            <a:ext cx="0" cy="1389888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" y="1280160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7552" y="1719072"/>
            <a:ext cx="384048" cy="384048"/>
          </a:xfrm>
          <a:prstGeom prst="ellipse">
            <a:avLst/>
          </a:prstGeom>
          <a:solidFill>
            <a:srgbClr val="E8F8F5"/>
          </a:solidFill>
          <a:ln w="635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1810512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91056" y="1517904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{{SUMMARY_1_VI}}</a:t>
            </a:r>
            <a:endParaRPr lang="en-US" sz="2010" dirty="0"/>
          </a:p>
        </p:txBody>
      </p:sp>
      <p:sp>
        <p:nvSpPr>
          <p:cNvPr id="15" name="Text 12"/>
          <p:cNvSpPr/>
          <p:nvPr/>
        </p:nvSpPr>
        <p:spPr>
          <a:xfrm>
            <a:off x="6492240" y="1527048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{{SUMMARY_1_EN}}</a:t>
            </a:r>
            <a:endParaRPr lang="en-US" sz="1840" dirty="0"/>
          </a:p>
        </p:txBody>
      </p:sp>
      <p:sp>
        <p:nvSpPr>
          <p:cNvPr id="16" name="Shape 13"/>
          <p:cNvSpPr/>
          <p:nvPr/>
        </p:nvSpPr>
        <p:spPr>
          <a:xfrm>
            <a:off x="6190488" y="1481328"/>
            <a:ext cx="0" cy="96012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2376" y="2843784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7552" y="3282696"/>
            <a:ext cx="384048" cy="384048"/>
          </a:xfrm>
          <a:prstGeom prst="ellipse">
            <a:avLst/>
          </a:prstGeom>
          <a:solidFill>
            <a:srgbClr val="E8F8F5"/>
          </a:solidFill>
          <a:ln w="635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3374136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591056" y="3081528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{{SUMMARY_2_VI}}</a:t>
            </a:r>
            <a:endParaRPr lang="en-US" sz="2010" dirty="0"/>
          </a:p>
        </p:txBody>
      </p:sp>
      <p:sp>
        <p:nvSpPr>
          <p:cNvPr id="21" name="Text 18"/>
          <p:cNvSpPr/>
          <p:nvPr/>
        </p:nvSpPr>
        <p:spPr>
          <a:xfrm>
            <a:off x="6492240" y="3090672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{{SUMMARY_2_EN}}</a:t>
            </a:r>
            <a:endParaRPr lang="en-US" sz="1840" dirty="0"/>
          </a:p>
        </p:txBody>
      </p:sp>
      <p:sp>
        <p:nvSpPr>
          <p:cNvPr id="22" name="Shape 19"/>
          <p:cNvSpPr/>
          <p:nvPr/>
        </p:nvSpPr>
        <p:spPr>
          <a:xfrm>
            <a:off x="6190488" y="3044952"/>
            <a:ext cx="0" cy="96012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2376" y="4407408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87552" y="4846320"/>
            <a:ext cx="384048" cy="384048"/>
          </a:xfrm>
          <a:prstGeom prst="ellipse">
            <a:avLst/>
          </a:prstGeom>
          <a:solidFill>
            <a:srgbClr val="E8F8F5"/>
          </a:solidFill>
          <a:ln w="635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568" y="4937760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91056" y="4645152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{{SUMMARY_3_VI}}</a:t>
            </a:r>
            <a:endParaRPr lang="en-US" sz="2010" dirty="0"/>
          </a:p>
        </p:txBody>
      </p:sp>
      <p:sp>
        <p:nvSpPr>
          <p:cNvPr id="27" name="Text 24"/>
          <p:cNvSpPr/>
          <p:nvPr/>
        </p:nvSpPr>
        <p:spPr>
          <a:xfrm>
            <a:off x="6492240" y="4654296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{{SUMMARY_3_EN}}</a:t>
            </a:r>
            <a:endParaRPr lang="en-US" sz="1840" dirty="0"/>
          </a:p>
        </p:txBody>
      </p:sp>
      <p:sp>
        <p:nvSpPr>
          <p:cNvPr id="28" name="Shape 25"/>
          <p:cNvSpPr/>
          <p:nvPr/>
        </p:nvSpPr>
        <p:spPr>
          <a:xfrm>
            <a:off x="6190488" y="4608576"/>
            <a:ext cx="0" cy="96012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CD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VISUAL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CDE6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274320"/>
            <a:ext cx="228600" cy="228600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163E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0" name="Text 7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22376" y="1362456"/>
            <a:ext cx="10716768" cy="4425696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1560" y="1673352"/>
            <a:ext cx="3703320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1700784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NHIỆM VỤ VỀ NHÀ / TAKE-HOME TASK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88136" y="2322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VIỆT NAM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097280" y="2606040"/>
            <a:ext cx="9802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{{HOMEWORK_VI}}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1088136" y="3813048"/>
            <a:ext cx="9765792" cy="0"/>
          </a:xfrm>
          <a:prstGeom prst="line">
            <a:avLst/>
          </a:prstGeom>
          <a:noFill/>
          <a:ln w="12700">
            <a:solidFill>
              <a:srgbClr val="CDE6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88136" y="4050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1097280" y="4370832"/>
            <a:ext cx="9774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{{HOMEWORK_EN}}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06456" y="54864"/>
            <a:ext cx="1618488" cy="1618488"/>
          </a:xfrm>
          <a:prstGeom prst="ellipse">
            <a:avLst/>
          </a:prstGeom>
          <a:solidFill>
            <a:srgbClr val="A7E6DC"/>
          </a:solidFill>
          <a:ln w="6350">
            <a:solidFill>
              <a:srgbClr val="A7E6D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5358384"/>
            <a:ext cx="1426464" cy="1426464"/>
          </a:xfrm>
          <a:prstGeom prst="ellipse">
            <a:avLst/>
          </a:prstGeom>
          <a:solidFill>
            <a:srgbClr val="008F8B"/>
          </a:solidFill>
          <a:ln w="6350">
            <a:solidFill>
              <a:srgbClr val="008F8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8952" y="685800"/>
            <a:ext cx="10680192" cy="543153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DE6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88136" y="1078992"/>
            <a:ext cx="3108960" cy="283464"/>
          </a:xfrm>
          <a:prstGeom prst="roundRect">
            <a:avLst>
              <a:gd name="adj" fmla="val 38710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07008" y="1106424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• LESSON COMPLETE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43584" y="1911096"/>
            <a:ext cx="9829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{{THANKS_VI}}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1243584" y="2926080"/>
            <a:ext cx="9829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8F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{{THANKS_EN}}</a:t>
            </a:r>
            <a:endParaRPr lang="en-US" sz="3300" dirty="0"/>
          </a:p>
        </p:txBody>
      </p:sp>
      <p:sp>
        <p:nvSpPr>
          <p:cNvPr id="10" name="Shape 7"/>
          <p:cNvSpPr/>
          <p:nvPr/>
        </p:nvSpPr>
        <p:spPr>
          <a:xfrm>
            <a:off x="4818888" y="4050792"/>
            <a:ext cx="2578608" cy="0"/>
          </a:xfrm>
          <a:prstGeom prst="line">
            <a:avLst/>
          </a:prstGeom>
          <a:noFill/>
          <a:ln w="34290">
            <a:solidFill>
              <a:srgbClr val="008F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4745736"/>
            <a:ext cx="7635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517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{{FOOTER}}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BiliClass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BiliClass | Trực quan</dc:title>
  <dc:subject>Reusable universal educational layouts</dc:subject>
  <dc:creator>BiliClass</dc:creator>
  <cp:lastModifiedBy>BiliClass</cp:lastModifiedBy>
  <cp:revision>1</cp:revision>
  <dcterms:created xsi:type="dcterms:W3CDTF">2026-10-16T02:41:25Z</dcterms:created>
  <dcterms:modified xsi:type="dcterms:W3CDTF">2026-10-16T02:41:25Z</dcterms:modified>
</cp:coreProperties>
</file>